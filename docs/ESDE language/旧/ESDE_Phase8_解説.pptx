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62266af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905000" cy="1905000"/>
          </a:xfrm>
          <a:prstGeom prst="rect">
            <a:avLst/>
          </a:prstGeom>
        </p:spPr>
      </p:pic>
      <p:pic>
        <p:nvPicPr>
          <p:cNvPr id="3" name="Image 1" descr="/tmp/rasterized-gradient-7e1cb64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286000"/>
            <a:ext cx="2857500" cy="2857500"/>
          </a:xfrm>
          <a:prstGeom prst="rect">
            <a:avLst/>
          </a:prstGeom>
        </p:spPr>
      </p:pic>
      <p:pic>
        <p:nvPicPr>
          <p:cNvPr id="4" name="Image 2" descr="/tmp/rasterized-gradient-426c10b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4563" y="1220242"/>
            <a:ext cx="1374725" cy="33903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113163" y="1296442"/>
            <a:ext cx="9358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A16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一般向け解説</a:t>
            </a:r>
            <a:endParaRPr lang="en-US" sz="1050" dirty="0"/>
          </a:p>
        </p:txBody>
      </p:sp>
      <p:sp>
        <p:nvSpPr>
          <p:cNvPr id="6" name="Text 1"/>
          <p:cNvSpPr/>
          <p:nvPr/>
        </p:nvSpPr>
        <p:spPr>
          <a:xfrm>
            <a:off x="2276475" y="1787872"/>
            <a:ext cx="468287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ESDE </a:t>
            </a:r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00D4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8</a:t>
            </a:r>
            <a:endParaRPr lang="en-US" sz="4800" dirty="0"/>
          </a:p>
        </p:txBody>
      </p:sp>
      <p:sp>
        <p:nvSpPr>
          <p:cNvPr id="7" name="Text 2"/>
          <p:cNvSpPr/>
          <p:nvPr/>
        </p:nvSpPr>
        <p:spPr>
          <a:xfrm>
            <a:off x="2964656" y="2626072"/>
            <a:ext cx="327898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AIが「意味」を理解する仕組み</a:t>
            </a:r>
            <a:endParaRPr lang="en-US" sz="1800" dirty="0"/>
          </a:p>
        </p:txBody>
      </p:sp>
      <p:pic>
        <p:nvPicPr>
          <p:cNvPr id="8" name="Image 3" descr="/tmp/rasterized-gradient-b46bfd4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327053"/>
            <a:ext cx="1143000" cy="2857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902273" y="3736628"/>
            <a:ext cx="136609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A7A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2026年1月 | TechStory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00D4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ESDEとは何か？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125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Extended Semantic Differential Engine</a:t>
            </a:r>
            <a:endParaRPr lang="en-US" sz="1125" dirty="0"/>
          </a:p>
        </p:txBody>
      </p:sp>
      <p:pic>
        <p:nvPicPr>
          <p:cNvPr id="4" name="Image 0" descr="/tmp/rasterized-gradient-32bde0c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831181"/>
            <a:ext cx="4076700" cy="1066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7700" y="2059781"/>
            <a:ext cx="365302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ESDEは、AIが</a:t>
            </a:r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D4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「意味」を構造的に理解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するためのエンジンです。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81000" y="3088481"/>
            <a:ext cx="415823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従来のAIは「パターン認識」で言葉を処理していました。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381000" y="3445669"/>
            <a:ext cx="415823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ESDEは、言葉の奥にある</a:t>
            </a:r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「意味の構造」</a:t>
            </a:r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を捉えることで、より深い理解を実現します。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4686300" y="1317129"/>
            <a:ext cx="4076700" cy="1070372"/>
          </a:xfrm>
          <a:prstGeom prst="roundRect">
            <a:avLst>
              <a:gd name="adj" fmla="val 8899"/>
            </a:avLst>
          </a:prstGeom>
          <a:solidFill>
            <a:srgbClr val="152238"/>
          </a:solidFill>
          <a:ln w="9525">
            <a:solidFill>
              <a:srgbClr val="2D4A6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867275" y="155331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5A7A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057775" y="1498104"/>
            <a:ext cx="54725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5A7A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従来のAI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867275" y="1779984"/>
            <a:ext cx="378904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「愛」という単語を見たら「love」に変換。表面的なパターンマッチング。</a:t>
            </a:r>
            <a:endParaRPr lang="en-US" sz="1050" dirty="0"/>
          </a:p>
        </p:txBody>
      </p:sp>
      <p:pic>
        <p:nvPicPr>
          <p:cNvPr id="12" name="Image 1" descr="/tmp/rasterized-gradient-f166a82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2539901"/>
            <a:ext cx="4076700" cy="10703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67275" y="277609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057775" y="2720876"/>
            <a:ext cx="37040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D4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ESDE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867275" y="3002756"/>
            <a:ext cx="378904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「愛」の意味座標（感情軸・関係性軸・時間軸）を特定し、文脈に応じた解釈を生成。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686300" y="3762673"/>
            <a:ext cx="4076700" cy="682823"/>
          </a:xfrm>
          <a:prstGeom prst="roundRect">
            <a:avLst>
              <a:gd name="adj" fmla="val 13949"/>
            </a:avLst>
          </a:prstGeom>
          <a:solidFill>
            <a:srgbClr val="FF6B9D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4700588" y="3762673"/>
            <a:ext cx="0" cy="682823"/>
          </a:xfrm>
          <a:prstGeom prst="line">
            <a:avLst/>
          </a:prstGeom>
          <a:noFill/>
          <a:ln w="28575">
            <a:solidFill>
              <a:srgbClr val="FF6B9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848225" y="3896023"/>
            <a:ext cx="38570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6B9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✦ ポイント</a:t>
            </a:r>
            <a:endParaRPr lang="en-US" sz="975" dirty="0"/>
          </a:p>
        </p:txBody>
      </p:sp>
      <p:sp>
        <p:nvSpPr>
          <p:cNvPr id="19" name="Text 15"/>
          <p:cNvSpPr/>
          <p:nvPr/>
        </p:nvSpPr>
        <p:spPr>
          <a:xfrm>
            <a:off x="4848225" y="4126409"/>
            <a:ext cx="385705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ESDEは「AIの内省エンジン」として機能します</a:t>
            </a:r>
            <a:endParaRPr lang="en-US" sz="975" dirty="0"/>
          </a:p>
        </p:txBody>
      </p:sp>
      <p:sp>
        <p:nvSpPr>
          <p:cNvPr id="20" name="Text 16"/>
          <p:cNvSpPr/>
          <p:nvPr/>
        </p:nvSpPr>
        <p:spPr>
          <a:xfrm>
            <a:off x="381000" y="4781550"/>
            <a:ext cx="17966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7A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ESDE Technical Specification v5.3.5-P8.5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8 の </a:t>
            </a:r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00D4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3つの柱</a:t>
            </a:r>
            <a:endParaRPr lang="en-US" sz="2550" dirty="0"/>
          </a:p>
        </p:txBody>
      </p:sp>
      <p:pic>
        <p:nvPicPr>
          <p:cNvPr id="3" name="Image 0" descr="/tmp/rasterized-gradient-b6b452a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971550"/>
            <a:ext cx="2667000" cy="3600450"/>
          </a:xfrm>
          <a:prstGeom prst="rect">
            <a:avLst/>
          </a:prstGeom>
        </p:spPr>
      </p:pic>
      <p:pic>
        <p:nvPicPr>
          <p:cNvPr id="4" name="Image 1" descr="/tmp/rasterized-gradient-a484a32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38250"/>
            <a:ext cx="457200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1100" y="1257300"/>
            <a:ext cx="9744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0D4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PILLAR 1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1181100" y="1436340"/>
            <a:ext cx="97443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150"/>
              </a:spcBef>
              <a:buNone/>
            </a:pPr>
            <a:r>
              <a:rPr lang="en-US" sz="1350" b="1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センサー V2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609600" y="1847850"/>
            <a:ext cx="2253996" cy="45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言葉を受け取り、意味概念に変換する入力処理システム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609600" y="2453580"/>
            <a:ext cx="2209800" cy="575072"/>
          </a:xfrm>
          <a:prstGeom prst="roundRect">
            <a:avLst>
              <a:gd name="adj" fmla="val 13251"/>
            </a:avLst>
          </a:prstGeom>
          <a:solidFill>
            <a:srgbClr val="00D4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23900" y="2567880"/>
            <a:ext cx="2020824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WordNetと連携し、326個の意味原子から最適な概念を特定</a:t>
            </a:r>
            <a:endParaRPr lang="en-US" sz="975" dirty="0"/>
          </a:p>
        </p:txBody>
      </p:sp>
      <p:pic>
        <p:nvPicPr>
          <p:cNvPr id="10" name="Image 2" descr="/tmp/rasterized-gradient-c008a2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0" y="971550"/>
            <a:ext cx="2667000" cy="3600450"/>
          </a:xfrm>
          <a:prstGeom prst="rect">
            <a:avLst/>
          </a:prstGeom>
        </p:spPr>
      </p:pic>
      <p:pic>
        <p:nvPicPr>
          <p:cNvPr id="11" name="Image 3" descr="/tmp/rasterized-gradient-cffc3e7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7100" y="1238250"/>
            <a:ext cx="457200" cy="4572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038600" y="1257300"/>
            <a:ext cx="6995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6B9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PILLAR 2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4038600" y="1436340"/>
            <a:ext cx="69951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150"/>
              </a:spcBef>
              <a:buNone/>
            </a:pPr>
            <a:r>
              <a:rPr lang="en-US" sz="1350" b="1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分子生成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3467100" y="1847850"/>
            <a:ext cx="2253996" cy="45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意味原子を組み合わせて「意味の分子」を構築するシステム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3467100" y="2453580"/>
            <a:ext cx="2209800" cy="575072"/>
          </a:xfrm>
          <a:prstGeom prst="roundRect">
            <a:avLst>
              <a:gd name="adj" fmla="val 13251"/>
            </a:avLst>
          </a:prstGeom>
          <a:solidFill>
            <a:srgbClr val="FF6B9D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3581400" y="2567880"/>
            <a:ext cx="2020824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LLM（QwQ-32B）と連携し、14種の演算子で意味を構造化</a:t>
            </a:r>
            <a:endParaRPr lang="en-US" sz="975" dirty="0"/>
          </a:p>
        </p:txBody>
      </p:sp>
      <p:pic>
        <p:nvPicPr>
          <p:cNvPr id="17" name="Image 4" descr="/tmp/rasterized-gradient-4edb4d2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971550"/>
            <a:ext cx="2667000" cy="3600450"/>
          </a:xfrm>
          <a:prstGeom prst="rect">
            <a:avLst/>
          </a:prstGeom>
        </p:spPr>
      </p:pic>
      <p:pic>
        <p:nvPicPr>
          <p:cNvPr id="18" name="Image 5" descr="/tmp/rasterized-gradient-3bb7e8c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1238250"/>
            <a:ext cx="457200" cy="4572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896100" y="1257300"/>
            <a:ext cx="10656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A855F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PILLAR 3</a:t>
            </a:r>
            <a:endParaRPr lang="en-US" sz="900" dirty="0"/>
          </a:p>
        </p:txBody>
      </p:sp>
      <p:sp>
        <p:nvSpPr>
          <p:cNvPr id="20" name="Text 12"/>
          <p:cNvSpPr/>
          <p:nvPr/>
        </p:nvSpPr>
        <p:spPr>
          <a:xfrm>
            <a:off x="6896100" y="1436340"/>
            <a:ext cx="106566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150"/>
              </a:spcBef>
              <a:buNone/>
            </a:pPr>
            <a:r>
              <a:rPr lang="en-US" sz="1350" b="1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記憶システム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6324600" y="1847850"/>
            <a:ext cx="2253996" cy="45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意味の分子を一時的に保持し、文脈を維持するメモリ</a:t>
            </a:r>
            <a:endParaRPr lang="en-US" sz="1050" dirty="0"/>
          </a:p>
        </p:txBody>
      </p:sp>
      <p:sp>
        <p:nvSpPr>
          <p:cNvPr id="22" name="Text 14"/>
          <p:cNvSpPr/>
          <p:nvPr/>
        </p:nvSpPr>
        <p:spPr>
          <a:xfrm>
            <a:off x="6324600" y="2453580"/>
            <a:ext cx="2209800" cy="575072"/>
          </a:xfrm>
          <a:prstGeom prst="roundRect">
            <a:avLst>
              <a:gd name="adj" fmla="val 13251"/>
            </a:avLst>
          </a:prstGeom>
          <a:solidFill>
            <a:srgbClr val="A855F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5"/>
          <p:cNvSpPr/>
          <p:nvPr/>
        </p:nvSpPr>
        <p:spPr>
          <a:xfrm>
            <a:off x="6438900" y="2567880"/>
            <a:ext cx="2020824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時間経過で自然に減衰し、重要な記憶は強化される</a:t>
            </a:r>
            <a:endParaRPr lang="en-US" sz="975" dirty="0"/>
          </a:p>
        </p:txBody>
      </p:sp>
      <p:sp>
        <p:nvSpPr>
          <p:cNvPr id="24" name="Text 16"/>
          <p:cNvSpPr/>
          <p:nvPr/>
        </p:nvSpPr>
        <p:spPr>
          <a:xfrm>
            <a:off x="381000" y="4781550"/>
            <a:ext cx="27382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7A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8: Sensor V2 + Molecule Generator + Ephemeral Ledger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95250" cy="342900"/>
          </a:xfrm>
          <a:prstGeom prst="roundRect">
            <a:avLst>
              <a:gd name="adj" fmla="val 4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0550" y="295275"/>
            <a:ext cx="33794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センサー V2：言葉の認識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81000" y="914846"/>
            <a:ext cx="45740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D4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処理フロー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143276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291977"/>
            <a:ext cx="4065240" cy="586532"/>
          </a:xfrm>
          <a:prstGeom prst="roundRect">
            <a:avLst>
              <a:gd name="adj" fmla="val 12992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4400" y="1406277"/>
            <a:ext cx="391337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0D4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入力テキスト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を受け取る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914400" y="1617613"/>
            <a:ext cx="39133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A7A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例: 「I love you」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23875" y="1992809"/>
            <a:ext cx="19050" cy="76200"/>
          </a:xfrm>
          <a:prstGeom prst="rect">
            <a:avLst/>
          </a:prstGeom>
          <a:solidFill>
            <a:srgbClr val="2D4A6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81000" y="232410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00100" y="2183309"/>
            <a:ext cx="4065240" cy="586532"/>
          </a:xfrm>
          <a:prstGeom prst="roundRect">
            <a:avLst>
              <a:gd name="adj" fmla="val 12992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14400" y="2297609"/>
            <a:ext cx="391337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0D4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WordNet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で意味を検索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914400" y="2508945"/>
            <a:ext cx="39133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A7A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love.n.01 → 「深い愛情」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23875" y="2884140"/>
            <a:ext cx="19050" cy="76200"/>
          </a:xfrm>
          <a:prstGeom prst="rect">
            <a:avLst/>
          </a:prstGeom>
          <a:solidFill>
            <a:srgbClr val="2D4A6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81000" y="321543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00100" y="3074640"/>
            <a:ext cx="4065240" cy="586532"/>
          </a:xfrm>
          <a:prstGeom prst="roundRect">
            <a:avLst>
              <a:gd name="adj" fmla="val 12992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14400" y="3188940"/>
            <a:ext cx="391337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0D4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Synapse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で意味原子を特定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914400" y="3400276"/>
            <a:ext cx="39133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A7A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EMO.love（感情カテゴリ）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523875" y="3775472"/>
            <a:ext cx="19050" cy="76200"/>
          </a:xfrm>
          <a:prstGeom prst="rect">
            <a:avLst/>
          </a:prstGeom>
          <a:solidFill>
            <a:srgbClr val="2D4A6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81000" y="411628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0" descr="/tmp/rasterized-gradient-1d45c8c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3965972"/>
            <a:ext cx="4065240" cy="60558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23925" y="4089797"/>
            <a:ext cx="38939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0D4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座標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を割り当て</a:t>
            </a:r>
            <a:endParaRPr lang="en-US" sz="975" dirty="0"/>
          </a:p>
        </p:txBody>
      </p:sp>
      <p:sp>
        <p:nvSpPr>
          <p:cNvPr id="23" name="Text 20"/>
          <p:cNvSpPr/>
          <p:nvPr/>
        </p:nvSpPr>
        <p:spPr>
          <a:xfrm>
            <a:off x="923925" y="4301133"/>
            <a:ext cx="38939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0D4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軸: interconnection / レベル: catalytic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5093940" y="964257"/>
            <a:ext cx="3669060" cy="1312366"/>
          </a:xfrm>
          <a:prstGeom prst="roundRect">
            <a:avLst>
              <a:gd name="adj" fmla="val 8709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246340" y="1116657"/>
            <a:ext cx="343154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F6B9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意味原子とは？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246340" y="1398538"/>
            <a:ext cx="3431545" cy="420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ESDEには</a:t>
            </a:r>
            <a:pPr algn="l" indent="0" marL="0">
              <a:lnSpc>
                <a:spcPts val="1658"/>
              </a:lnSpc>
              <a:buNone/>
            </a:pPr>
            <a:r>
              <a:rPr lang="en-US" sz="975" b="1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326個</a:t>
            </a:r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の基本的な意味単位（原子）が定義されています。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5093940" y="2429024"/>
            <a:ext cx="3669060" cy="1007566"/>
          </a:xfrm>
          <a:prstGeom prst="roundRect">
            <a:avLst>
              <a:gd name="adj" fmla="val 11344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246340" y="2581424"/>
            <a:ext cx="343154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A855F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163組の対称ペア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246340" y="2863304"/>
            <a:ext cx="3431545" cy="420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愛⇔憎、生⇔死のように、全ての概念には対称的なペアが存在します。</a:t>
            </a:r>
            <a:endParaRPr lang="en-US" sz="975" dirty="0"/>
          </a:p>
        </p:txBody>
      </p:sp>
      <p:pic>
        <p:nvPicPr>
          <p:cNvPr id="30" name="Image 1" descr="/tmp/rasterized-gradient-382c00d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940" y="3588990"/>
            <a:ext cx="3669060" cy="93315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255865" y="3750915"/>
            <a:ext cx="341211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✓ Phase 8 成果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5255865" y="4013746"/>
            <a:ext cx="3412114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決定論的な出力を実現し、同じ入力には常に同じ結果を返す</a:t>
            </a:r>
            <a:endParaRPr lang="en-US" sz="975" dirty="0"/>
          </a:p>
        </p:txBody>
      </p:sp>
      <p:sp>
        <p:nvSpPr>
          <p:cNvPr id="33" name="Text 29"/>
          <p:cNvSpPr/>
          <p:nvPr/>
        </p:nvSpPr>
        <p:spPr>
          <a:xfrm>
            <a:off x="381000" y="4781550"/>
            <a:ext cx="21720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7A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Sensor V2: Synapse Integration + WordNet Bridge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95250" cy="342900"/>
          </a:xfrm>
          <a:prstGeom prst="roundRect">
            <a:avLst>
              <a:gd name="adj" fmla="val 40000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0550" y="295275"/>
            <a:ext cx="32129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分子生成：意味の構造化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81000" y="1004590"/>
            <a:ext cx="415823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意味原子を</a:t>
            </a:r>
            <a:pPr algn="l" indent="0" marL="0">
              <a:lnSpc>
                <a:spcPts val="1913"/>
              </a:lnSpc>
              <a:buNone/>
            </a:pPr>
            <a:r>
              <a:rPr lang="en-US" sz="1125" b="1" dirty="0">
                <a:solidFill>
                  <a:srgbClr val="FF6B9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演算子</a:t>
            </a:r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で結合し、複雑な意味構造を表現します。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81000" y="1399877"/>
            <a:ext cx="4076700" cy="2272308"/>
          </a:xfrm>
          <a:prstGeom prst="roundRect">
            <a:avLst>
              <a:gd name="adj" fmla="val 5030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1590377"/>
            <a:ext cx="37696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5A7A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入力例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71500" y="1877913"/>
            <a:ext cx="3769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"I love you"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1500" y="2297013"/>
            <a:ext cx="3695700" cy="9525"/>
          </a:xfrm>
          <a:prstGeom prst="rect">
            <a:avLst/>
          </a:prstGeom>
          <a:solidFill>
            <a:srgbClr val="2D4A6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1500" y="2458938"/>
            <a:ext cx="37696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5A7A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意味の分子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571500" y="2746474"/>
            <a:ext cx="3695700" cy="479971"/>
          </a:xfrm>
          <a:prstGeom prst="roundRect">
            <a:avLst>
              <a:gd name="adj" fmla="val 15876"/>
            </a:avLst>
          </a:prstGeom>
          <a:solidFill>
            <a:srgbClr val="0D1A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04850" y="2879824"/>
            <a:ext cx="34975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D4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EMO.love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6B9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▷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D4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◯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1500" y="3321695"/>
            <a:ext cx="37696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750"/>
              </a:spcBef>
              <a:buNone/>
            </a:pPr>
            <a:r>
              <a:rPr lang="en-US" sz="900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「愛」が「対象」に向かって作用する構造</a:t>
            </a:r>
            <a:endParaRPr lang="en-US" sz="900" dirty="0"/>
          </a:p>
        </p:txBody>
      </p:sp>
      <p:pic>
        <p:nvPicPr>
          <p:cNvPr id="13" name="Image 0" descr="/tmp/rasterized-gradient-5146d19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3824585"/>
            <a:ext cx="4076700" cy="65707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2925" y="3957935"/>
            <a:ext cx="38570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6B9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座標: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interconnection軸 / catalyticレベル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542925" y="4188321"/>
            <a:ext cx="38570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関係性において触媒的な役割を持つ感情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686300" y="770781"/>
            <a:ext cx="415823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6B9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主要な演算子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686300" y="1109811"/>
            <a:ext cx="1990725" cy="693390"/>
          </a:xfrm>
          <a:prstGeom prst="roundRect">
            <a:avLst>
              <a:gd name="adj" fmla="val 10989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800600" y="1224111"/>
            <a:ext cx="17973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D4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×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800600" y="1528911"/>
            <a:ext cx="17973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接続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772275" y="1109811"/>
            <a:ext cx="1990725" cy="693390"/>
          </a:xfrm>
          <a:prstGeom prst="roundRect">
            <a:avLst>
              <a:gd name="adj" fmla="val 10989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886575" y="1224111"/>
            <a:ext cx="17973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D4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▷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886575" y="1528911"/>
            <a:ext cx="17973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作用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686300" y="1898452"/>
            <a:ext cx="1990725" cy="693390"/>
          </a:xfrm>
          <a:prstGeom prst="roundRect">
            <a:avLst>
              <a:gd name="adj" fmla="val 10989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800600" y="2012752"/>
            <a:ext cx="17973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D4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800600" y="2317552"/>
            <a:ext cx="17973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変化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772275" y="1898452"/>
            <a:ext cx="1990725" cy="693390"/>
          </a:xfrm>
          <a:prstGeom prst="roundRect">
            <a:avLst>
              <a:gd name="adj" fmla="val 10989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886575" y="2012752"/>
            <a:ext cx="17973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D4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¬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886575" y="2317552"/>
            <a:ext cx="17973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否定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686300" y="2687092"/>
            <a:ext cx="1990725" cy="693390"/>
          </a:xfrm>
          <a:prstGeom prst="roundRect">
            <a:avLst>
              <a:gd name="adj" fmla="val 10989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800600" y="2801392"/>
            <a:ext cx="17973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D4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⊕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4800600" y="3106192"/>
            <a:ext cx="17973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並置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772275" y="2687092"/>
            <a:ext cx="1990725" cy="693390"/>
          </a:xfrm>
          <a:prstGeom prst="roundRect">
            <a:avLst>
              <a:gd name="adj" fmla="val 10989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886575" y="2801392"/>
            <a:ext cx="17973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D4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⇒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6886575" y="3106192"/>
            <a:ext cx="17973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創発</a:t>
            </a:r>
            <a:endParaRPr lang="en-US" sz="900" dirty="0"/>
          </a:p>
        </p:txBody>
      </p:sp>
      <p:pic>
        <p:nvPicPr>
          <p:cNvPr id="35" name="Image 1" descr="/tmp/rasterized-gradient-ed4a3e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3570982"/>
            <a:ext cx="4076700" cy="1144637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4838700" y="3723382"/>
            <a:ext cx="38473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表現能力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4838700" y="4024313"/>
            <a:ext cx="45389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00D4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326</a:t>
            </a:r>
            <a:endParaRPr lang="en-US" sz="2100" dirty="0"/>
          </a:p>
        </p:txBody>
      </p:sp>
      <p:sp>
        <p:nvSpPr>
          <p:cNvPr id="38" name="Text 34"/>
          <p:cNvSpPr/>
          <p:nvPr/>
        </p:nvSpPr>
        <p:spPr>
          <a:xfrm>
            <a:off x="4838700" y="4416623"/>
            <a:ext cx="4538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7A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意味原子</a:t>
            </a:r>
            <a:endParaRPr lang="en-US" sz="825" dirty="0"/>
          </a:p>
        </p:txBody>
      </p:sp>
      <p:sp>
        <p:nvSpPr>
          <p:cNvPr id="39" name="Text 35"/>
          <p:cNvSpPr/>
          <p:nvPr/>
        </p:nvSpPr>
        <p:spPr>
          <a:xfrm>
            <a:off x="5436096" y="4133701"/>
            <a:ext cx="1361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D4A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×</a:t>
            </a:r>
            <a:endParaRPr lang="en-US" sz="1800" dirty="0"/>
          </a:p>
        </p:txBody>
      </p:sp>
      <p:sp>
        <p:nvSpPr>
          <p:cNvPr id="40" name="Text 36"/>
          <p:cNvSpPr/>
          <p:nvPr/>
        </p:nvSpPr>
        <p:spPr>
          <a:xfrm>
            <a:off x="5721995" y="4024313"/>
            <a:ext cx="32061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6B9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14</a:t>
            </a:r>
            <a:endParaRPr lang="en-US" sz="2100" dirty="0"/>
          </a:p>
        </p:txBody>
      </p:sp>
      <p:sp>
        <p:nvSpPr>
          <p:cNvPr id="41" name="Text 37"/>
          <p:cNvSpPr/>
          <p:nvPr/>
        </p:nvSpPr>
        <p:spPr>
          <a:xfrm>
            <a:off x="5721995" y="4416623"/>
            <a:ext cx="3206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7A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演算子</a:t>
            </a:r>
            <a:endParaRPr lang="en-US" sz="825" dirty="0"/>
          </a:p>
        </p:txBody>
      </p:sp>
      <p:sp>
        <p:nvSpPr>
          <p:cNvPr id="42" name="Text 38"/>
          <p:cNvSpPr/>
          <p:nvPr/>
        </p:nvSpPr>
        <p:spPr>
          <a:xfrm>
            <a:off x="6188720" y="4133701"/>
            <a:ext cx="1361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D4A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=</a:t>
            </a:r>
            <a:endParaRPr lang="en-US" sz="1800" dirty="0"/>
          </a:p>
        </p:txBody>
      </p:sp>
      <p:sp>
        <p:nvSpPr>
          <p:cNvPr id="43" name="Text 39"/>
          <p:cNvSpPr/>
          <p:nvPr/>
        </p:nvSpPr>
        <p:spPr>
          <a:xfrm>
            <a:off x="6474619" y="4024313"/>
            <a:ext cx="42748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A855F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∞</a:t>
            </a:r>
            <a:endParaRPr lang="en-US" sz="2100" dirty="0"/>
          </a:p>
        </p:txBody>
      </p:sp>
      <p:sp>
        <p:nvSpPr>
          <p:cNvPr id="44" name="Text 40"/>
          <p:cNvSpPr/>
          <p:nvPr/>
        </p:nvSpPr>
        <p:spPr>
          <a:xfrm>
            <a:off x="6474619" y="4416623"/>
            <a:ext cx="4274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7A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表現可能</a:t>
            </a:r>
            <a:endParaRPr lang="en-US" sz="825" dirty="0"/>
          </a:p>
        </p:txBody>
      </p:sp>
      <p:sp>
        <p:nvSpPr>
          <p:cNvPr id="45" name="Text 41"/>
          <p:cNvSpPr/>
          <p:nvPr/>
        </p:nvSpPr>
        <p:spPr>
          <a:xfrm>
            <a:off x="381000" y="4781550"/>
            <a:ext cx="24949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7A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Molecule Generator: QwQ-32B Integration with Guardrails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95250" cy="342900"/>
          </a:xfrm>
          <a:prstGeom prst="roundRect">
            <a:avLst>
              <a:gd name="adj" fmla="val 40000"/>
            </a:avLst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0550" y="295275"/>
            <a:ext cx="382320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記憶システム：AIの短期記憶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81000" y="1063823"/>
            <a:ext cx="4574027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人間の記憶と同様に、</a:t>
            </a:r>
            <a:pPr algn="l" indent="0" marL="0">
              <a:lnSpc>
                <a:spcPts val="1913"/>
              </a:lnSpc>
              <a:buNone/>
            </a:pPr>
            <a:r>
              <a:rPr lang="en-US" sz="1125" b="1" dirty="0">
                <a:solidFill>
                  <a:srgbClr val="A855F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時間とともに薄れ</a:t>
            </a:r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pPr algn="l" indent="0" marL="0">
              <a:lnSpc>
                <a:spcPts val="1913"/>
              </a:lnSpc>
              <a:buNone/>
            </a:pPr>
            <a:r>
              <a:rPr lang="en-US" sz="1125" b="1" dirty="0">
                <a:solidFill>
                  <a:srgbClr val="00D4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繰り返しで強化</a:t>
            </a:r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されます。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81000" y="1459111"/>
            <a:ext cx="4484340" cy="2963466"/>
          </a:xfrm>
          <a:prstGeom prst="roundRect">
            <a:avLst>
              <a:gd name="adj" fmla="val 3857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1649611"/>
            <a:ext cx="418540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A855F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メモリの数学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71500" y="203715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5A7A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2000" y="1988641"/>
            <a:ext cx="11159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自然減衰（Decay）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571500" y="2238077"/>
            <a:ext cx="4103340" cy="436066"/>
          </a:xfrm>
          <a:prstGeom prst="roundRect">
            <a:avLst>
              <a:gd name="adj" fmla="val 13106"/>
            </a:avLst>
          </a:prstGeom>
          <a:solidFill>
            <a:srgbClr val="0D1A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6750" y="2333327"/>
            <a:ext cx="3991097" cy="245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 = wprev × e-dt/τ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1500" y="287506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62000" y="2826544"/>
            <a:ext cx="129838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0D4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観測強化（Reinforce）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71500" y="3075980"/>
            <a:ext cx="4103340" cy="377130"/>
          </a:xfrm>
          <a:prstGeom prst="roundRect">
            <a:avLst>
              <a:gd name="adj" fmla="val 15154"/>
            </a:avLst>
          </a:prstGeom>
          <a:solidFill>
            <a:srgbClr val="0D1A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6750" y="3171230"/>
            <a:ext cx="399109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 = w + α × (1 - w)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1500" y="365402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62000" y="3605510"/>
            <a:ext cx="9615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6B9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忘却（Oblivion）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71500" y="3854946"/>
            <a:ext cx="4103340" cy="377130"/>
          </a:xfrm>
          <a:prstGeom prst="roundRect">
            <a:avLst>
              <a:gd name="adj" fmla="val 15154"/>
            </a:avLst>
          </a:prstGeom>
          <a:solidFill>
            <a:srgbClr val="0D1A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6750" y="3950196"/>
            <a:ext cx="399109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if w &lt; ε → 削除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93940" y="719435"/>
            <a:ext cx="3669060" cy="2784872"/>
          </a:xfrm>
          <a:prstGeom prst="roundRect">
            <a:avLst>
              <a:gd name="adj" fmla="val 4104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84440" y="909935"/>
            <a:ext cx="335382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00D4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時定数ポリシー（τ）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84440" y="1248966"/>
            <a:ext cx="335382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5A7A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意味の重要度に応じて記憶の寿命が変わる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84440" y="1523256"/>
            <a:ext cx="3288060" cy="312390"/>
          </a:xfrm>
          <a:prstGeom prst="roundRect">
            <a:avLst>
              <a:gd name="adj" fmla="val 12196"/>
            </a:avLst>
          </a:prstGeom>
          <a:solidFill>
            <a:srgbClr val="0D1A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398740" y="1599456"/>
            <a:ext cx="11658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855F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permanence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94140" y="1599456"/>
            <a:ext cx="17993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24時間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84440" y="1892796"/>
            <a:ext cx="3288060" cy="312390"/>
          </a:xfrm>
          <a:prstGeom prst="roundRect">
            <a:avLst>
              <a:gd name="adj" fmla="val 12196"/>
            </a:avLst>
          </a:prstGeom>
          <a:solidFill>
            <a:srgbClr val="0D1A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98740" y="1968996"/>
            <a:ext cx="11658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continuation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94140" y="1968996"/>
            <a:ext cx="17993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1時間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84440" y="2262336"/>
            <a:ext cx="3288060" cy="312390"/>
          </a:xfrm>
          <a:prstGeom prst="roundRect">
            <a:avLst>
              <a:gd name="adj" fmla="val 12196"/>
            </a:avLst>
          </a:prstGeom>
          <a:solidFill>
            <a:srgbClr val="0D1A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98740" y="2338536"/>
            <a:ext cx="11658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transformation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94140" y="2338536"/>
            <a:ext cx="17993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30分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84440" y="2631877"/>
            <a:ext cx="3288060" cy="312390"/>
          </a:xfrm>
          <a:prstGeom prst="roundRect">
            <a:avLst>
              <a:gd name="adj" fmla="val 12196"/>
            </a:avLst>
          </a:prstGeom>
          <a:solidFill>
            <a:srgbClr val="0D1A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398740" y="2708077"/>
            <a:ext cx="11658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indication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94140" y="2708077"/>
            <a:ext cx="17993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5分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84440" y="3001417"/>
            <a:ext cx="3288060" cy="312390"/>
          </a:xfrm>
          <a:prstGeom prst="roundRect">
            <a:avLst>
              <a:gd name="adj" fmla="val 12196"/>
            </a:avLst>
          </a:prstGeom>
          <a:solidFill>
            <a:srgbClr val="0D1A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398740" y="3077617"/>
            <a:ext cx="11658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7A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emergence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694140" y="3077617"/>
            <a:ext cx="17993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1分</a:t>
            </a:r>
            <a:endParaRPr lang="en-US" sz="900" dirty="0"/>
          </a:p>
        </p:txBody>
      </p:sp>
      <p:pic>
        <p:nvPicPr>
          <p:cNvPr id="37" name="Image 0" descr="/tmp/rasterized-gradient-e04fa6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3940" y="3656707"/>
            <a:ext cx="3669060" cy="1110407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5255865" y="3818632"/>
            <a:ext cx="341211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✓ テスト結果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5255865" y="4119562"/>
            <a:ext cx="66126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0D4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85.7%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5255865" y="4458593"/>
            <a:ext cx="6612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7A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成功率</a:t>
            </a:r>
            <a:endParaRPr lang="en-US" sz="825" dirty="0"/>
          </a:p>
        </p:txBody>
      </p:sp>
      <p:sp>
        <p:nvSpPr>
          <p:cNvPr id="41" name="Text 38"/>
          <p:cNvSpPr/>
          <p:nvPr/>
        </p:nvSpPr>
        <p:spPr>
          <a:xfrm>
            <a:off x="6132761" y="4119562"/>
            <a:ext cx="33700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A855F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0%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6132761" y="4458593"/>
            <a:ext cx="3370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7A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汚染率</a:t>
            </a:r>
            <a:endParaRPr lang="en-US" sz="825" dirty="0"/>
          </a:p>
        </p:txBody>
      </p:sp>
      <p:sp>
        <p:nvSpPr>
          <p:cNvPr id="43" name="Text 40"/>
          <p:cNvSpPr/>
          <p:nvPr/>
        </p:nvSpPr>
        <p:spPr>
          <a:xfrm>
            <a:off x="381000" y="4781550"/>
            <a:ext cx="12962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7A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8-5: Ephemeral Ledger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cb22e2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0"/>
            <a:ext cx="3810000" cy="3810000"/>
          </a:xfrm>
          <a:prstGeom prst="rect">
            <a:avLst/>
          </a:prstGeom>
        </p:spPr>
      </p:pic>
      <p:pic>
        <p:nvPicPr>
          <p:cNvPr id="3" name="Image 1" descr="/tmp/rasterized-gradient-c44e93c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0"/>
            <a:ext cx="2857500" cy="2857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81000" y="266700"/>
            <a:ext cx="42845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 </a:t>
            </a:r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00D4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&amp;</a:t>
            </a:r>
            <a:pPr algn="l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次のステップ</a:t>
            </a:r>
            <a:endParaRPr lang="en-US" sz="2550" dirty="0"/>
          </a:p>
        </p:txBody>
      </p:sp>
      <p:sp>
        <p:nvSpPr>
          <p:cNvPr id="5" name="Text 1"/>
          <p:cNvSpPr/>
          <p:nvPr/>
        </p:nvSpPr>
        <p:spPr>
          <a:xfrm>
            <a:off x="381000" y="1604218"/>
            <a:ext cx="415823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D4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8 成果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381000" y="2038499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723900" y="2019449"/>
            <a:ext cx="256018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センサーV2の完成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723900" y="2244179"/>
            <a:ext cx="25601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WordNetとSynapseの統合による精密な意味認識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381000" y="253752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723900" y="2518470"/>
            <a:ext cx="20520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LLM統合の実現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723900" y="2743200"/>
            <a:ext cx="20520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QwQ-32Bによるリアルタイム分子生成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81000" y="303654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723900" y="3017490"/>
            <a:ext cx="19928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記憶システムの構築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23900" y="3242221"/>
            <a:ext cx="19928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生物的な減衰・強化を模した短期記憶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81000" y="353556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723900" y="3516511"/>
            <a:ext cx="19626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安定性監査の通過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723900" y="3741241"/>
            <a:ext cx="19626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3500回のテストで0%の汚染率を達成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686300" y="1226046"/>
            <a:ext cx="415823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6B9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NEXT: PHASE 8-6</a:t>
            </a:r>
            <a:endParaRPr lang="en-US" sz="1050" dirty="0"/>
          </a:p>
        </p:txBody>
      </p:sp>
      <p:pic>
        <p:nvPicPr>
          <p:cNvPr id="19" name="Image 2" descr="/tmp/rasterized-gradient-17e7262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1641277"/>
            <a:ext cx="4076700" cy="1719858"/>
          </a:xfrm>
          <a:prstGeom prst="rect">
            <a:avLst/>
          </a:prstGeom>
        </p:spPr>
      </p:pic>
      <p:pic>
        <p:nvPicPr>
          <p:cNvPr id="20" name="Image 3" descr="/tmp/rasterized-gradient-1807714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6325" y="184130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95925" y="1850827"/>
            <a:ext cx="123644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永続化レイヤー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5495925" y="2128838"/>
            <a:ext cx="12364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Persistent Ledger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4886325" y="2508945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5019675" y="2450902"/>
            <a:ext cx="178309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記憶の永続化（ディスク保存）</a:t>
            </a:r>
            <a:endParaRPr lang="en-US" sz="975" dirty="0"/>
          </a:p>
        </p:txBody>
      </p:sp>
      <p:sp>
        <p:nvSpPr>
          <p:cNvPr id="25" name="Text 19"/>
          <p:cNvSpPr/>
          <p:nvPr/>
        </p:nvSpPr>
        <p:spPr>
          <a:xfrm>
            <a:off x="4886325" y="2777430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5019675" y="2719388"/>
            <a:ext cx="19241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ハッシュチェーンによる改竄防止</a:t>
            </a:r>
            <a:endParaRPr lang="en-US" sz="975" dirty="0"/>
          </a:p>
        </p:txBody>
      </p:sp>
      <p:sp>
        <p:nvSpPr>
          <p:cNvPr id="27" name="Text 21"/>
          <p:cNvSpPr/>
          <p:nvPr/>
        </p:nvSpPr>
        <p:spPr>
          <a:xfrm>
            <a:off x="4886325" y="3045916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5019675" y="2987873"/>
            <a:ext cx="114263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長期的な文脈の維持</a:t>
            </a:r>
            <a:endParaRPr lang="en-US" sz="975" dirty="0"/>
          </a:p>
        </p:txBody>
      </p:sp>
      <p:sp>
        <p:nvSpPr>
          <p:cNvPr id="29" name="Text 23"/>
          <p:cNvSpPr/>
          <p:nvPr/>
        </p:nvSpPr>
        <p:spPr>
          <a:xfrm>
            <a:off x="4686300" y="3513534"/>
            <a:ext cx="4076700" cy="765721"/>
          </a:xfrm>
          <a:prstGeom prst="roundRect">
            <a:avLst>
              <a:gd name="adj" fmla="val 14927"/>
            </a:avLst>
          </a:prstGeom>
          <a:solidFill>
            <a:srgbClr val="00D4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4"/>
          <p:cNvSpPr/>
          <p:nvPr/>
        </p:nvSpPr>
        <p:spPr>
          <a:xfrm>
            <a:off x="4700588" y="3513534"/>
            <a:ext cx="0" cy="765721"/>
          </a:xfrm>
          <a:prstGeom prst="line">
            <a:avLst/>
          </a:prstGeom>
          <a:noFill/>
          <a:ln w="28575">
            <a:solidFill>
              <a:srgbClr val="00D4FF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867275" y="3665934"/>
            <a:ext cx="38181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8EE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最終ビジョン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4867275" y="3928765"/>
            <a:ext cx="3818192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8BA3C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AIが「意味」を真に理解し、人間と共創する世界へ</a:t>
            </a:r>
            <a:endParaRPr lang="en-US" sz="975" dirty="0"/>
          </a:p>
        </p:txBody>
      </p:sp>
      <p:sp>
        <p:nvSpPr>
          <p:cNvPr id="33" name="Text 27"/>
          <p:cNvSpPr/>
          <p:nvPr/>
        </p:nvSpPr>
        <p:spPr>
          <a:xfrm>
            <a:off x="381000" y="4781550"/>
            <a:ext cx="21044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7A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ESDE v5.3.5-P8.5 | Based on Aruism Philosophy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ESDE Phase 8 解説</dc:title>
  <dc:subject>一般向け解説資料</dc:subject>
  <dc:creator>TechStory</dc:creator>
  <cp:lastModifiedBy>TechStory</cp:lastModifiedBy>
  <cp:revision>1</cp:revision>
  <dcterms:created xsi:type="dcterms:W3CDTF">2026-01-13T16:00:41Z</dcterms:created>
  <dcterms:modified xsi:type="dcterms:W3CDTF">2026-01-13T16:00:41Z</dcterms:modified>
</cp:coreProperties>
</file>